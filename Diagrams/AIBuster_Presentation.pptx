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Detection Accuracy by Model (%)</a:t>
            </a:r>
            <a:endParaRPr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 bwMode="auto">
            <a:prstGeom prst="rect">
              <a:avLst/>
            </a:prstGeom>
            <a:solidFill>
              <a:srgbClr val="607D8B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607D8B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607D8B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607D8B"/>
              </a:solidFill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rgbClr val="78909C"/>
              </a:solidFill>
              <a:effectLst/>
            </c:spPr>
          </c:dPt>
          <c:dPt>
            <c:idx val="4"/>
            <c:invertIfNegative val="0"/>
            <c:bubble3D val="0"/>
            <c:spPr bwMode="auto">
              <a:prstGeom prst="rect">
                <a:avLst/>
              </a:prstGeom>
              <a:solidFill>
                <a:srgbClr val="2196F3"/>
              </a:solidFill>
              <a:effectLst/>
            </c:spPr>
          </c:dPt>
          <c:dPt>
            <c:idx val="5"/>
            <c:invertIfNegative val="0"/>
            <c:bubble3D val="0"/>
            <c:spPr bwMode="auto">
              <a:prstGeom prst="rect">
                <a:avLst/>
              </a:prstGeom>
              <a:solidFill>
                <a:srgbClr val="00BCD4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Sheet1!$A$2:$A$7</c:f>
              <c:multiLvlStrCache>
                <c:ptCount val="6"/>
                <c:lvl>
                  <c:pt idx="0">
                    <c:v>ResNet-50</c:v>
                  </c:pt>
                  <c:pt idx="1">
                    <c:v>VGGNet-16</c:v>
                  </c:pt>
                  <c:pt idx="2">
                    <c:v>DenseNet-121</c:v>
                  </c:pt>
                  <c:pt idx="3">
                    <c:v>SE-ResNet50</c:v>
                  </c:pt>
                  <c:pt idx="4">
                    <c:v>Model 1 (ViT)</c:v>
                  </c:pt>
                  <c:pt idx="5">
                    <c:v>Model 2 (Ensemble)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93.46</c:v>
                </c:pt>
                <c:pt idx="1">
                  <c:v>94.06</c:v>
                </c:pt>
                <c:pt idx="2">
                  <c:v>95.98</c:v>
                </c:pt>
                <c:pt idx="3">
                  <c:v>96.12</c:v>
                </c:pt>
                <c:pt idx="4">
                  <c:v>94.2</c:v>
                </c:pt>
                <c:pt idx="5">
                  <c:v>99.4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000" b="0" i="0" u="none" strike="noStrike">
                  <a:solidFill>
                    <a:srgbClr val="1E293B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.000000"/>
          <c:min val="9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274320" y="1005840"/>
      <a:ext cx="5303520" cy="338328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973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582026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858193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00814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780015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74305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46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763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0439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64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782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7950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970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443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8902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265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5400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6768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60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983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08123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42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895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244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597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164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6339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69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5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7594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012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3562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2177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909345" name="Shape 0"/>
          <p:cNvSpPr/>
          <p:nvPr/>
        </p:nvSpPr>
        <p:spPr bwMode="auto">
          <a:xfrm>
            <a:off x="5669280" y="0"/>
            <a:ext cx="347472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03770706" name="Shape 1"/>
          <p:cNvSpPr/>
          <p:nvPr/>
        </p:nvSpPr>
        <p:spPr bwMode="auto">
          <a:xfrm>
            <a:off x="7132320" y="0"/>
            <a:ext cx="2011680" cy="5143500"/>
          </a:xfrm>
          <a:prstGeom prst="rect">
            <a:avLst/>
          </a:prstGeom>
          <a:solidFill>
            <a:srgbClr val="112236"/>
          </a:solidFill>
          <a:ln w="12700">
            <a:solidFill>
              <a:srgbClr val="112236"/>
            </a:solidFill>
            <a:prstDash val="solid"/>
          </a:ln>
        </p:spPr>
      </p:sp>
      <p:sp>
        <p:nvSpPr>
          <p:cNvPr id="1766697848" name="Shape 2"/>
          <p:cNvSpPr/>
          <p:nvPr/>
        </p:nvSpPr>
        <p:spPr bwMode="auto">
          <a:xfrm>
            <a:off x="548640" y="1874520"/>
            <a:ext cx="64008" cy="1280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22163427" name="Text 3"/>
          <p:cNvSpPr/>
          <p:nvPr/>
        </p:nvSpPr>
        <p:spPr bwMode="auto">
          <a:xfrm>
            <a:off x="685800" y="1463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AIBuster</a:t>
            </a:r>
            <a:endParaRPr lang="en-US" sz="5200"/>
          </a:p>
        </p:txBody>
      </p:sp>
      <p:sp>
        <p:nvSpPr>
          <p:cNvPr id="2006280500" name="Text 4"/>
          <p:cNvSpPr/>
          <p:nvPr/>
        </p:nvSpPr>
        <p:spPr bwMode="auto">
          <a:xfrm>
            <a:off x="68580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00BCD4"/>
                </a:solidFill>
                <a:latin typeface="Calibri Light"/>
                <a:ea typeface="Calibri Light"/>
                <a:cs typeface="Calibri Light"/>
              </a:rPr>
              <a:t>AI-Generated Image Detection System</a:t>
            </a:r>
            <a:endParaRPr lang="en-US" sz="1700"/>
          </a:p>
        </p:txBody>
      </p:sp>
      <p:sp>
        <p:nvSpPr>
          <p:cNvPr id="1906990850" name="Text 5"/>
          <p:cNvSpPr/>
          <p:nvPr/>
        </p:nvSpPr>
        <p:spPr bwMode="auto">
          <a:xfrm>
            <a:off x="6858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Dual-Model Architecture  ·  Forensic Analysis  ·  Mobile Deployment</a:t>
            </a:r>
            <a:endParaRPr lang="en-US" sz="1200"/>
          </a:p>
        </p:txBody>
      </p:sp>
      <p:sp>
        <p:nvSpPr>
          <p:cNvPr id="1124516231" name="Text 6"/>
          <p:cNvSpPr/>
          <p:nvPr/>
        </p:nvSpPr>
        <p:spPr bwMode="auto">
          <a:xfrm>
            <a:off x="5943600" y="1371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1E4080"/>
                </a:solidFill>
                <a:latin typeface="Calibri"/>
                <a:ea typeface="Calibri"/>
                <a:cs typeface="Calibri"/>
              </a:rPr>
              <a:t>DETECT</a:t>
            </a:r>
            <a:endParaRPr lang="en-US" sz="2800"/>
          </a:p>
          <a:p>
            <a:pPr marL="0" indent="0" algn="ctr">
              <a:buNone/>
              <a:defRPr/>
            </a:pPr>
            <a:r>
              <a:rPr lang="en-US" sz="2800" b="1">
                <a:solidFill>
                  <a:srgbClr val="1E4080"/>
                </a:solidFill>
                <a:latin typeface="Calibri"/>
                <a:ea typeface="Calibri"/>
                <a:cs typeface="Calibri"/>
              </a:rPr>
              <a:t>VERIFY</a:t>
            </a:r>
            <a:endParaRPr lang="en-US" sz="2800"/>
          </a:p>
          <a:p>
            <a:pPr marL="0" indent="0" algn="ctr">
              <a:buNone/>
              <a:defRPr/>
            </a:pPr>
            <a:r>
              <a:rPr lang="en-US" sz="2800" b="1">
                <a:solidFill>
                  <a:srgbClr val="1E4080"/>
                </a:solidFill>
                <a:latin typeface="Calibri"/>
                <a:ea typeface="Calibri"/>
                <a:cs typeface="Calibri"/>
              </a:rPr>
              <a:t>PROTECT</a:t>
            </a:r>
            <a:endParaRPr lang="en-US" sz="2800"/>
          </a:p>
        </p:txBody>
      </p:sp>
      <p:sp>
        <p:nvSpPr>
          <p:cNvPr id="1199996761" name="Shape 7"/>
          <p:cNvSpPr/>
          <p:nvPr/>
        </p:nvSpPr>
        <p:spPr bwMode="auto">
          <a:xfrm>
            <a:off x="0" y="4754880"/>
            <a:ext cx="9144000" cy="3886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51257871" name="Text 8"/>
          <p:cNvSpPr/>
          <p:nvPr/>
        </p:nvSpPr>
        <p:spPr bwMode="auto"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Under Supervision of Dr.Ahmed Madbouly ·  Graduation Project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295170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5791338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Problem</a:t>
            </a:r>
            <a:endParaRPr lang="en-US" sz="3000"/>
          </a:p>
        </p:txBody>
      </p:sp>
      <p:sp>
        <p:nvSpPr>
          <p:cNvPr id="938773281" name="Shape 2"/>
          <p:cNvSpPr/>
          <p:nvPr/>
        </p:nvSpPr>
        <p:spPr bwMode="auto">
          <a:xfrm>
            <a:off x="320040" y="11430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494086" name="Shape 3"/>
          <p:cNvSpPr/>
          <p:nvPr/>
        </p:nvSpPr>
        <p:spPr bwMode="auto">
          <a:xfrm>
            <a:off x="320040" y="1143000"/>
            <a:ext cx="26517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1447151" name="Text 4"/>
          <p:cNvSpPr/>
          <p:nvPr/>
        </p:nvSpPr>
        <p:spPr bwMode="auto">
          <a:xfrm>
            <a:off x="45720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Deepfakes</a:t>
            </a:r>
            <a:endParaRPr lang="en-US" sz="1700"/>
          </a:p>
        </p:txBody>
      </p:sp>
      <p:sp>
        <p:nvSpPr>
          <p:cNvPr id="198525192" name="Text 5"/>
          <p:cNvSpPr/>
          <p:nvPr/>
        </p:nvSpPr>
        <p:spPr bwMode="auto">
          <a:xfrm>
            <a:off x="457200" y="17556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AI can replicate any person's face or voice, enabling fraud, blackmail, and political manipulation.</a:t>
            </a:r>
            <a:endParaRPr lang="en-US" sz="1250"/>
          </a:p>
        </p:txBody>
      </p:sp>
      <p:sp>
        <p:nvSpPr>
          <p:cNvPr id="235744735" name="Shape 6"/>
          <p:cNvSpPr/>
          <p:nvPr/>
        </p:nvSpPr>
        <p:spPr bwMode="auto">
          <a:xfrm>
            <a:off x="3200400" y="11430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78945536" name="Shape 7"/>
          <p:cNvSpPr/>
          <p:nvPr/>
        </p:nvSpPr>
        <p:spPr bwMode="auto">
          <a:xfrm>
            <a:off x="3200400" y="1143000"/>
            <a:ext cx="265176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56717928" name="Text 8"/>
          <p:cNvSpPr/>
          <p:nvPr/>
        </p:nvSpPr>
        <p:spPr bwMode="auto">
          <a:xfrm>
            <a:off x="333756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E67E22"/>
                </a:solidFill>
                <a:latin typeface="Calibri"/>
                <a:ea typeface="Calibri"/>
                <a:cs typeface="Calibri"/>
              </a:rPr>
              <a:t>Romance Scams</a:t>
            </a:r>
            <a:endParaRPr lang="en-US" sz="1700"/>
          </a:p>
        </p:txBody>
      </p:sp>
      <p:sp>
        <p:nvSpPr>
          <p:cNvPr id="454069461" name="Text 9"/>
          <p:cNvSpPr/>
          <p:nvPr/>
        </p:nvSpPr>
        <p:spPr bwMode="auto">
          <a:xfrm>
            <a:off x="3337560" y="17556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Cybercriminals use AI-generated photos on dating apps to deceive victims and steal money.</a:t>
            </a:r>
            <a:endParaRPr lang="en-US" sz="1250"/>
          </a:p>
        </p:txBody>
      </p:sp>
      <p:sp>
        <p:nvSpPr>
          <p:cNvPr id="1076132118" name="Shape 10"/>
          <p:cNvSpPr/>
          <p:nvPr/>
        </p:nvSpPr>
        <p:spPr bwMode="auto">
          <a:xfrm>
            <a:off x="6080760" y="11430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57319891" name="Shape 11"/>
          <p:cNvSpPr/>
          <p:nvPr/>
        </p:nvSpPr>
        <p:spPr bwMode="auto">
          <a:xfrm>
            <a:off x="6080760" y="1143000"/>
            <a:ext cx="2651760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74908483" name="Text 12"/>
          <p:cNvSpPr/>
          <p:nvPr/>
        </p:nvSpPr>
        <p:spPr bwMode="auto">
          <a:xfrm>
            <a:off x="6217920" y="1298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8E44AD"/>
                </a:solidFill>
                <a:latin typeface="Calibri"/>
                <a:ea typeface="Calibri"/>
                <a:cs typeface="Calibri"/>
              </a:rPr>
              <a:t>Misinformation</a:t>
            </a:r>
            <a:endParaRPr lang="en-US" sz="1700"/>
          </a:p>
        </p:txBody>
      </p:sp>
      <p:sp>
        <p:nvSpPr>
          <p:cNvPr id="1279871443" name="Text 13"/>
          <p:cNvSpPr/>
          <p:nvPr/>
        </p:nvSpPr>
        <p:spPr bwMode="auto">
          <a:xfrm>
            <a:off x="6217920" y="175564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Fake product images, disaster photos, and fabricated news spread false narratives at scale.</a:t>
            </a:r>
            <a:endParaRPr lang="en-US" sz="1250"/>
          </a:p>
        </p:txBody>
      </p:sp>
      <p:sp>
        <p:nvSpPr>
          <p:cNvPr id="1849525547" name="Shape 14"/>
          <p:cNvSpPr/>
          <p:nvPr/>
        </p:nvSpPr>
        <p:spPr bwMode="auto">
          <a:xfrm>
            <a:off x="320040" y="3886200"/>
            <a:ext cx="8503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28498780" name="Text 15"/>
          <p:cNvSpPr/>
          <p:nvPr/>
        </p:nvSpPr>
        <p:spPr bwMode="auto">
          <a:xfrm>
            <a:off x="502920" y="391363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00BCD4"/>
                </a:solidFill>
              </a:rPr>
              <a:t>8 million </a:t>
            </a:r>
            <a:r>
              <a:rPr lang="en-US" sz="1400">
                <a:solidFill>
                  <a:srgbClr val="FFFFFF"/>
                </a:solidFill>
              </a:rPr>
              <a:t>deepfake incidents in 2025 — a </a:t>
            </a:r>
            <a:r>
              <a:rPr lang="en-US" sz="2000" b="1">
                <a:solidFill>
                  <a:srgbClr val="2196F3"/>
                </a:solidFill>
              </a:rPr>
              <a:t>900% increase </a:t>
            </a:r>
            <a:r>
              <a:rPr lang="en-US" sz="1400">
                <a:solidFill>
                  <a:srgbClr val="FFFFFF"/>
                </a:solidFill>
              </a:rPr>
              <a:t>in just two years. Synthetic content projected to reach </a:t>
            </a:r>
            <a:r>
              <a:rPr lang="en-US" sz="1400" b="1">
                <a:solidFill>
                  <a:srgbClr val="00BCD4"/>
                </a:solidFill>
              </a:rPr>
              <a:t>90% of online media</a:t>
            </a:r>
            <a:r>
              <a:rPr lang="en-US" sz="1400">
                <a:solidFill>
                  <a:srgbClr val="FFFFFF"/>
                </a:solidFill>
              </a:rPr>
              <a:t> by 2026.</a:t>
            </a: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597564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48291533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Solution: AIBuster</a:t>
            </a:r>
            <a:endParaRPr lang="en-US" sz="3000"/>
          </a:p>
        </p:txBody>
      </p:sp>
      <p:sp>
        <p:nvSpPr>
          <p:cNvPr id="152300737" name="Shape 2"/>
          <p:cNvSpPr/>
          <p:nvPr/>
        </p:nvSpPr>
        <p:spPr bwMode="auto">
          <a:xfrm>
            <a:off x="274320" y="1463040"/>
            <a:ext cx="1389888" cy="10058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501812044" name="Text 3"/>
          <p:cNvSpPr/>
          <p:nvPr/>
        </p:nvSpPr>
        <p:spPr bwMode="auto">
          <a:xfrm>
            <a:off x="274320" y="1463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Image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</a:t>
            </a:r>
            <a:endParaRPr lang="en-US" sz="1300"/>
          </a:p>
        </p:txBody>
      </p:sp>
      <p:sp>
        <p:nvSpPr>
          <p:cNvPr id="1298671815" name="Shape 4"/>
          <p:cNvSpPr/>
          <p:nvPr/>
        </p:nvSpPr>
        <p:spPr bwMode="auto">
          <a:xfrm>
            <a:off x="1664208" y="192938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648074" name="Shape 5"/>
          <p:cNvSpPr/>
          <p:nvPr/>
        </p:nvSpPr>
        <p:spPr bwMode="auto">
          <a:xfrm>
            <a:off x="1901952" y="1463040"/>
            <a:ext cx="1389888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734580905" name="Text 6"/>
          <p:cNvSpPr/>
          <p:nvPr/>
        </p:nvSpPr>
        <p:spPr bwMode="auto">
          <a:xfrm>
            <a:off x="1901952" y="1463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Preprocess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Clean</a:t>
            </a:r>
            <a:endParaRPr lang="en-US" sz="1300"/>
          </a:p>
        </p:txBody>
      </p:sp>
      <p:sp>
        <p:nvSpPr>
          <p:cNvPr id="733379464" name="Shape 7"/>
          <p:cNvSpPr/>
          <p:nvPr/>
        </p:nvSpPr>
        <p:spPr bwMode="auto">
          <a:xfrm>
            <a:off x="3291840" y="192938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6060329" name="Shape 8"/>
          <p:cNvSpPr/>
          <p:nvPr/>
        </p:nvSpPr>
        <p:spPr bwMode="auto">
          <a:xfrm>
            <a:off x="3529584" y="1463040"/>
            <a:ext cx="1389888" cy="10058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1569197" name="Text 9"/>
          <p:cNvSpPr/>
          <p:nvPr/>
        </p:nvSpPr>
        <p:spPr bwMode="auto">
          <a:xfrm>
            <a:off x="3529584" y="1463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Parallel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Analysis</a:t>
            </a:r>
            <a:endParaRPr lang="en-US" sz="1300"/>
          </a:p>
        </p:txBody>
      </p:sp>
      <p:sp>
        <p:nvSpPr>
          <p:cNvPr id="2002284739" name="Shape 10"/>
          <p:cNvSpPr/>
          <p:nvPr/>
        </p:nvSpPr>
        <p:spPr bwMode="auto">
          <a:xfrm>
            <a:off x="4919471" y="192938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0580090" name="Shape 11"/>
          <p:cNvSpPr/>
          <p:nvPr/>
        </p:nvSpPr>
        <p:spPr bwMode="auto">
          <a:xfrm>
            <a:off x="5157216" y="1463040"/>
            <a:ext cx="1389888" cy="1005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84629949" name="Text 12"/>
          <p:cNvSpPr/>
          <p:nvPr/>
        </p:nvSpPr>
        <p:spPr bwMode="auto">
          <a:xfrm>
            <a:off x="5157216" y="1463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Ensemble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Voting</a:t>
            </a:r>
            <a:endParaRPr lang="en-US" sz="1300"/>
          </a:p>
        </p:txBody>
      </p:sp>
      <p:sp>
        <p:nvSpPr>
          <p:cNvPr id="1397523914" name="Shape 13"/>
          <p:cNvSpPr/>
          <p:nvPr/>
        </p:nvSpPr>
        <p:spPr bwMode="auto">
          <a:xfrm>
            <a:off x="6547104" y="1929384"/>
            <a:ext cx="237744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1870639" name="Shape 14"/>
          <p:cNvSpPr/>
          <p:nvPr/>
        </p:nvSpPr>
        <p:spPr bwMode="auto">
          <a:xfrm>
            <a:off x="6784848" y="1463040"/>
            <a:ext cx="1389888" cy="10058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020179651" name="Text 15"/>
          <p:cNvSpPr/>
          <p:nvPr/>
        </p:nvSpPr>
        <p:spPr bwMode="auto">
          <a:xfrm>
            <a:off x="6784848" y="1463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Verdict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Evidence</a:t>
            </a:r>
            <a:endParaRPr lang="en-US" sz="1300"/>
          </a:p>
        </p:txBody>
      </p:sp>
      <p:sp>
        <p:nvSpPr>
          <p:cNvPr id="1137156918" name="Shape 16"/>
          <p:cNvSpPr/>
          <p:nvPr/>
        </p:nvSpPr>
        <p:spPr bwMode="auto">
          <a:xfrm>
            <a:off x="274320" y="2743200"/>
            <a:ext cx="4297680" cy="2011680"/>
          </a:xfrm>
          <a:prstGeom prst="rect">
            <a:avLst/>
          </a:prstGeom>
          <a:solidFill>
            <a:srgbClr val="132238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55336920" name="Text 17"/>
          <p:cNvSpPr/>
          <p:nvPr/>
        </p:nvSpPr>
        <p:spPr bwMode="auto">
          <a:xfrm>
            <a:off x="411480" y="2816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Model 1 — Standalone ViT</a:t>
            </a:r>
            <a:endParaRPr lang="en-US" sz="1300"/>
          </a:p>
        </p:txBody>
      </p:sp>
      <p:sp>
        <p:nvSpPr>
          <p:cNvPr id="1010559754" name="Text 18"/>
          <p:cNvSpPr/>
          <p:nvPr/>
        </p:nvSpPr>
        <p:spPr bwMode="auto">
          <a:xfrm>
            <a:off x="411480" y="320040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Fine-tuned Vision Transformer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94.2% accuracy · 45ms inference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Threshold tuned to 0.08 for recall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Deployed on Hugging Face + Gradio</a:t>
            </a:r>
            <a:endParaRPr lang="en-US" sz="1150"/>
          </a:p>
        </p:txBody>
      </p:sp>
      <p:sp>
        <p:nvSpPr>
          <p:cNvPr id="1045904668" name="Shape 19"/>
          <p:cNvSpPr/>
          <p:nvPr/>
        </p:nvSpPr>
        <p:spPr bwMode="auto">
          <a:xfrm>
            <a:off x="4846320" y="2743200"/>
            <a:ext cx="4297680" cy="201168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92457208" name="Text 20"/>
          <p:cNvSpPr/>
          <p:nvPr/>
        </p:nvSpPr>
        <p:spPr bwMode="auto">
          <a:xfrm>
            <a:off x="4983480" y="2816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Model 2 — Multi-Engine Ensemble</a:t>
            </a:r>
            <a:endParaRPr lang="en-US" sz="1300"/>
          </a:p>
        </p:txBody>
      </p:sp>
      <p:sp>
        <p:nvSpPr>
          <p:cNvPr id="1136797443" name="Text 21"/>
          <p:cNvSpPr/>
          <p:nvPr/>
        </p:nvSpPr>
        <p:spPr bwMode="auto">
          <a:xfrm>
            <a:off x="4983480" y="320040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ViT + SigLIP + SMOGY + Noise Forensics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99.4% accuracy · 100% recall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FFT · ELA · Physics-based analysis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Gradio + FastAPI REST API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91104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71160669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1 — Standalone Vision Transformer (ViT)</a:t>
            </a:r>
            <a:endParaRPr lang="en-US" sz="2400"/>
          </a:p>
        </p:txBody>
      </p:sp>
      <p:sp>
        <p:nvSpPr>
          <p:cNvPr id="1044356835" name="Shape 2"/>
          <p:cNvSpPr/>
          <p:nvPr/>
        </p:nvSpPr>
        <p:spPr bwMode="auto"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37727417" name="Text 3"/>
          <p:cNvSpPr/>
          <p:nvPr/>
        </p:nvSpPr>
        <p:spPr bwMode="auto">
          <a:xfrm>
            <a:off x="4114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How It Works</a:t>
            </a:r>
            <a:endParaRPr lang="en-US" sz="1400"/>
          </a:p>
        </p:txBody>
      </p:sp>
      <p:sp>
        <p:nvSpPr>
          <p:cNvPr id="875700513" name="Text 4"/>
          <p:cNvSpPr/>
          <p:nvPr/>
        </p:nvSpPr>
        <p:spPr bwMode="auto">
          <a:xfrm>
            <a:off x="411480" y="1508759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1.  Image divided into 16×16 pixel patches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2.  Patches → linear projection → latent tokens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3.  Positional embeddings added for spatial structure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4.  [CLS] token summarises the full image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5.  12 Transformer encoder layers with Multi-Head Self-Attention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6.  Classification head outputs REAL / FAKE probability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7.  Threshold lowered to 0.08 to maximise recall</a:t>
            </a:r>
            <a:endParaRPr lang="en-US" sz="1150"/>
          </a:p>
        </p:txBody>
      </p:sp>
      <p:sp>
        <p:nvSpPr>
          <p:cNvPr id="940465545" name="Shape 5"/>
          <p:cNvSpPr/>
          <p:nvPr/>
        </p:nvSpPr>
        <p:spPr bwMode="auto">
          <a:xfrm>
            <a:off x="4617720" y="105156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354436759" name="Text 6"/>
          <p:cNvSpPr/>
          <p:nvPr/>
        </p:nvSpPr>
        <p:spPr bwMode="auto">
          <a:xfrm>
            <a:off x="4617720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94.2%</a:t>
            </a:r>
            <a:endParaRPr lang="en-US" sz="3000"/>
          </a:p>
        </p:txBody>
      </p:sp>
      <p:sp>
        <p:nvSpPr>
          <p:cNvPr id="1375865396" name="Text 7"/>
          <p:cNvSpPr/>
          <p:nvPr/>
        </p:nvSpPr>
        <p:spPr bwMode="auto">
          <a:xfrm>
            <a:off x="46177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Accuracy</a:t>
            </a:r>
            <a:endParaRPr lang="en-US" sz="1200"/>
          </a:p>
        </p:txBody>
      </p:sp>
      <p:sp>
        <p:nvSpPr>
          <p:cNvPr id="2047655513" name="Shape 8"/>
          <p:cNvSpPr/>
          <p:nvPr/>
        </p:nvSpPr>
        <p:spPr bwMode="auto">
          <a:xfrm>
            <a:off x="6766560" y="105156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04363691" name="Text 9"/>
          <p:cNvSpPr/>
          <p:nvPr/>
        </p:nvSpPr>
        <p:spPr bwMode="auto">
          <a:xfrm>
            <a:off x="6766560" y="1143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94.2%</a:t>
            </a:r>
            <a:endParaRPr lang="en-US" sz="3000"/>
          </a:p>
        </p:txBody>
      </p:sp>
      <p:sp>
        <p:nvSpPr>
          <p:cNvPr id="1544821154" name="Text 10"/>
          <p:cNvSpPr/>
          <p:nvPr/>
        </p:nvSpPr>
        <p:spPr bwMode="auto">
          <a:xfrm>
            <a:off x="67665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F1-Score</a:t>
            </a:r>
            <a:endParaRPr lang="en-US" sz="1200"/>
          </a:p>
        </p:txBody>
      </p:sp>
      <p:sp>
        <p:nvSpPr>
          <p:cNvPr id="727114275" name="Shape 11"/>
          <p:cNvSpPr/>
          <p:nvPr/>
        </p:nvSpPr>
        <p:spPr bwMode="auto">
          <a:xfrm>
            <a:off x="4617720" y="246888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72934026" name="Text 12"/>
          <p:cNvSpPr/>
          <p:nvPr/>
        </p:nvSpPr>
        <p:spPr bwMode="auto">
          <a:xfrm>
            <a:off x="4617720" y="2560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~45ms</a:t>
            </a:r>
            <a:endParaRPr lang="en-US" sz="3000"/>
          </a:p>
        </p:txBody>
      </p:sp>
      <p:sp>
        <p:nvSpPr>
          <p:cNvPr id="830230935" name="Text 13"/>
          <p:cNvSpPr/>
          <p:nvPr/>
        </p:nvSpPr>
        <p:spPr bwMode="auto">
          <a:xfrm>
            <a:off x="46177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Inference</a:t>
            </a:r>
            <a:endParaRPr lang="en-US" sz="1200"/>
          </a:p>
        </p:txBody>
      </p:sp>
      <p:sp>
        <p:nvSpPr>
          <p:cNvPr id="676507024" name="Shape 14"/>
          <p:cNvSpPr/>
          <p:nvPr/>
        </p:nvSpPr>
        <p:spPr bwMode="auto">
          <a:xfrm>
            <a:off x="6766560" y="2468880"/>
            <a:ext cx="1920240" cy="1188720"/>
          </a:xfrm>
          <a:prstGeom prst="rect">
            <a:avLst/>
          </a:prstGeom>
          <a:solidFill>
            <a:srgbClr val="0D1B2A"/>
          </a:solidFill>
          <a:ln w="19050">
            <a:solidFill>
              <a:srgbClr val="FB8C00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917085017" name="Text 15"/>
          <p:cNvSpPr/>
          <p:nvPr/>
        </p:nvSpPr>
        <p:spPr bwMode="auto">
          <a:xfrm>
            <a:off x="6766560" y="2560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FB8C00"/>
                </a:solidFill>
                <a:latin typeface="Calibri"/>
                <a:ea typeface="Calibri"/>
                <a:cs typeface="Calibri"/>
              </a:rPr>
              <a:t>0.08</a:t>
            </a:r>
            <a:endParaRPr lang="en-US" sz="3000"/>
          </a:p>
        </p:txBody>
      </p:sp>
      <p:sp>
        <p:nvSpPr>
          <p:cNvPr id="1347908639" name="Text 16"/>
          <p:cNvSpPr/>
          <p:nvPr/>
        </p:nvSpPr>
        <p:spPr bwMode="auto">
          <a:xfrm>
            <a:off x="67665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Threshold</a:t>
            </a:r>
            <a:endParaRPr lang="en-US" sz="1200"/>
          </a:p>
        </p:txBody>
      </p:sp>
      <p:sp>
        <p:nvSpPr>
          <p:cNvPr id="1820103015" name="Shape 17"/>
          <p:cNvSpPr/>
          <p:nvPr/>
        </p:nvSpPr>
        <p:spPr bwMode="auto">
          <a:xfrm>
            <a:off x="4617720" y="3886200"/>
            <a:ext cx="4297680" cy="914400"/>
          </a:xfrm>
          <a:prstGeom prst="rect">
            <a:avLst/>
          </a:prstGeom>
          <a:solidFill>
            <a:srgbClr val="E8F0FB"/>
          </a:solidFill>
          <a:ln w="10160">
            <a:solidFill>
              <a:srgbClr val="2196F3"/>
            </a:solidFill>
            <a:prstDash val="solid"/>
          </a:ln>
        </p:spPr>
      </p:sp>
      <p:sp>
        <p:nvSpPr>
          <p:cNvPr id="1065284358" name="Text 18"/>
          <p:cNvSpPr/>
          <p:nvPr/>
        </p:nvSpPr>
        <p:spPr bwMode="auto">
          <a:xfrm>
            <a:off x="4754880" y="3931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Training: </a:t>
            </a: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ImageNet-21k pre-training → fine-tuned on CIFAKE + Dima806 + CapCheck  ·  AdamW · lr=2e-5 · warmup 10%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05462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707845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2 — Multi-Engine Ensemble System</a:t>
            </a:r>
            <a:endParaRPr lang="en-US" sz="2400"/>
          </a:p>
        </p:txBody>
      </p:sp>
      <p:sp>
        <p:nvSpPr>
          <p:cNvPr id="643225653" name="Shape 2"/>
          <p:cNvSpPr/>
          <p:nvPr/>
        </p:nvSpPr>
        <p:spPr bwMode="auto">
          <a:xfrm>
            <a:off x="228600" y="1051560"/>
            <a:ext cx="1965960" cy="1920240"/>
          </a:xfrm>
          <a:prstGeom prst="rect">
            <a:avLst/>
          </a:prstGeom>
          <a:solidFill>
            <a:srgbClr val="132238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39323471" name="Text 3"/>
          <p:cNvSpPr/>
          <p:nvPr/>
        </p:nvSpPr>
        <p:spPr bwMode="auto">
          <a:xfrm>
            <a:off x="22860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50%</a:t>
            </a:r>
            <a:endParaRPr lang="en-US" sz="3000"/>
          </a:p>
        </p:txBody>
      </p:sp>
      <p:sp>
        <p:nvSpPr>
          <p:cNvPr id="22539717" name="Text 4"/>
          <p:cNvSpPr/>
          <p:nvPr/>
        </p:nvSpPr>
        <p:spPr bwMode="auto">
          <a:xfrm>
            <a:off x="228600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Fine-tuned ViT</a:t>
            </a:r>
            <a:endParaRPr lang="en-US" sz="1150"/>
          </a:p>
        </p:txBody>
      </p:sp>
      <p:sp>
        <p:nvSpPr>
          <p:cNvPr id="1047572432" name="Text 5"/>
          <p:cNvSpPr/>
          <p:nvPr/>
        </p:nvSpPr>
        <p:spPr bwMode="auto">
          <a:xfrm>
            <a:off x="320040" y="20756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Primary classifier trained on modern AI images</a:t>
            </a:r>
            <a:endParaRPr lang="en-US" sz="1000"/>
          </a:p>
        </p:txBody>
      </p:sp>
      <p:sp>
        <p:nvSpPr>
          <p:cNvPr id="1908880205" name="Shape 6"/>
          <p:cNvSpPr/>
          <p:nvPr/>
        </p:nvSpPr>
        <p:spPr bwMode="auto">
          <a:xfrm>
            <a:off x="2404872" y="1051560"/>
            <a:ext cx="1965960" cy="1920240"/>
          </a:xfrm>
          <a:prstGeom prst="rect">
            <a:avLst/>
          </a:prstGeom>
          <a:solidFill>
            <a:srgbClr val="132238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77274881" name="Text 7"/>
          <p:cNvSpPr/>
          <p:nvPr/>
        </p:nvSpPr>
        <p:spPr bwMode="auto">
          <a:xfrm>
            <a:off x="2404872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15%</a:t>
            </a:r>
            <a:endParaRPr lang="en-US" sz="3000"/>
          </a:p>
        </p:txBody>
      </p:sp>
      <p:sp>
        <p:nvSpPr>
          <p:cNvPr id="205017583" name="Text 8"/>
          <p:cNvSpPr/>
          <p:nvPr/>
        </p:nvSpPr>
        <p:spPr bwMode="auto">
          <a:xfrm>
            <a:off x="2404872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SigLIP</a:t>
            </a:r>
            <a:endParaRPr lang="en-US" sz="1150"/>
          </a:p>
        </p:txBody>
      </p:sp>
      <p:sp>
        <p:nvSpPr>
          <p:cNvPr id="965122180" name="Text 9"/>
          <p:cNvSpPr/>
          <p:nvPr/>
        </p:nvSpPr>
        <p:spPr bwMode="auto">
          <a:xfrm>
            <a:off x="2496312" y="20756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Semantic-level detection, different data distribution</a:t>
            </a:r>
            <a:endParaRPr lang="en-US" sz="1000"/>
          </a:p>
        </p:txBody>
      </p:sp>
      <p:sp>
        <p:nvSpPr>
          <p:cNvPr id="1165945761" name="Shape 10"/>
          <p:cNvSpPr/>
          <p:nvPr/>
        </p:nvSpPr>
        <p:spPr bwMode="auto">
          <a:xfrm>
            <a:off x="4581144" y="1051560"/>
            <a:ext cx="1965960" cy="1920240"/>
          </a:xfrm>
          <a:prstGeom prst="rect">
            <a:avLst/>
          </a:prstGeom>
          <a:solidFill>
            <a:srgbClr val="132238"/>
          </a:solidFill>
          <a:ln w="19050">
            <a:solidFill>
              <a:srgbClr val="AB47BC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470130496" name="Text 11"/>
          <p:cNvSpPr/>
          <p:nvPr/>
        </p:nvSpPr>
        <p:spPr bwMode="auto">
          <a:xfrm>
            <a:off x="4581144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AB47BC"/>
                </a:solidFill>
                <a:latin typeface="Calibri"/>
                <a:ea typeface="Calibri"/>
                <a:cs typeface="Calibri"/>
              </a:rPr>
              <a:t>15%</a:t>
            </a:r>
            <a:endParaRPr lang="en-US" sz="3000"/>
          </a:p>
        </p:txBody>
      </p:sp>
      <p:sp>
        <p:nvSpPr>
          <p:cNvPr id="655350724" name="Text 12"/>
          <p:cNvSpPr/>
          <p:nvPr/>
        </p:nvSpPr>
        <p:spPr bwMode="auto">
          <a:xfrm>
            <a:off x="4581144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SMOGY</a:t>
            </a:r>
            <a:endParaRPr lang="en-US" sz="1150"/>
          </a:p>
        </p:txBody>
      </p:sp>
      <p:sp>
        <p:nvSpPr>
          <p:cNvPr id="21890990" name="Text 13"/>
          <p:cNvSpPr/>
          <p:nvPr/>
        </p:nvSpPr>
        <p:spPr bwMode="auto">
          <a:xfrm>
            <a:off x="4672584" y="20756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Backup model — complements ViT coverage</a:t>
            </a:r>
            <a:endParaRPr lang="en-US" sz="1000"/>
          </a:p>
        </p:txBody>
      </p:sp>
      <p:sp>
        <p:nvSpPr>
          <p:cNvPr id="1566075241" name="Shape 14"/>
          <p:cNvSpPr/>
          <p:nvPr/>
        </p:nvSpPr>
        <p:spPr bwMode="auto">
          <a:xfrm>
            <a:off x="6757416" y="1051560"/>
            <a:ext cx="1965960" cy="1920240"/>
          </a:xfrm>
          <a:prstGeom prst="rect">
            <a:avLst/>
          </a:prstGeom>
          <a:solidFill>
            <a:srgbClr val="132238"/>
          </a:solidFill>
          <a:ln w="19050">
            <a:solidFill>
              <a:srgbClr val="FFA726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6001891" name="Text 15"/>
          <p:cNvSpPr/>
          <p:nvPr/>
        </p:nvSpPr>
        <p:spPr bwMode="auto">
          <a:xfrm>
            <a:off x="6757416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FFA726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3000"/>
          </a:p>
        </p:txBody>
      </p:sp>
      <p:sp>
        <p:nvSpPr>
          <p:cNvPr id="1170245169" name="Text 16"/>
          <p:cNvSpPr/>
          <p:nvPr/>
        </p:nvSpPr>
        <p:spPr bwMode="auto">
          <a:xfrm>
            <a:off x="6757416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Noise Forensics</a:t>
            </a:r>
            <a:endParaRPr lang="en-US" sz="1150"/>
          </a:p>
        </p:txBody>
      </p:sp>
      <p:sp>
        <p:nvSpPr>
          <p:cNvPr id="271030567" name="Text 17"/>
          <p:cNvSpPr/>
          <p:nvPr/>
        </p:nvSpPr>
        <p:spPr bwMode="auto">
          <a:xfrm>
            <a:off x="6848856" y="207568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Physics-based: PRNU variance, entropy, correlation</a:t>
            </a:r>
            <a:endParaRPr lang="en-US" sz="1000"/>
          </a:p>
        </p:txBody>
      </p:sp>
      <p:sp>
        <p:nvSpPr>
          <p:cNvPr id="395344903" name="Shape 18"/>
          <p:cNvSpPr/>
          <p:nvPr/>
        </p:nvSpPr>
        <p:spPr bwMode="auto">
          <a:xfrm>
            <a:off x="274320" y="3127248"/>
            <a:ext cx="8595360" cy="502920"/>
          </a:xfrm>
          <a:prstGeom prst="rect">
            <a:avLst/>
          </a:prstGeom>
          <a:solidFill>
            <a:srgbClr val="0A1628"/>
          </a:solidFill>
          <a:ln w="10160">
            <a:solidFill>
              <a:srgbClr val="2196F3"/>
            </a:solidFill>
            <a:prstDash val="solid"/>
          </a:ln>
        </p:spPr>
      </p:sp>
      <p:sp>
        <p:nvSpPr>
          <p:cNvPr id="489522549" name="Text 19"/>
          <p:cNvSpPr/>
          <p:nvPr/>
        </p:nvSpPr>
        <p:spPr bwMode="auto">
          <a:xfrm>
            <a:off x="411480" y="3154680"/>
            <a:ext cx="8321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00BCD4"/>
                </a:solidFill>
                <a:latin typeface="Consolas"/>
                <a:ea typeface="Consolas"/>
                <a:cs typeface="Consolas"/>
              </a:rPr>
              <a:t>score  =  0.50 × ViT  +  0.15 × SigLIP  +  0.15 × SMOGY  +  0.20 × Noise   →   verdict = FAKE if score &gt; 0.5</a:t>
            </a:r>
            <a:endParaRPr lang="en-US" sz="1200"/>
          </a:p>
        </p:txBody>
      </p:sp>
      <p:sp>
        <p:nvSpPr>
          <p:cNvPr id="1189656694" name="Shape 20"/>
          <p:cNvSpPr/>
          <p:nvPr/>
        </p:nvSpPr>
        <p:spPr bwMode="auto">
          <a:xfrm>
            <a:off x="274320" y="3749040"/>
            <a:ext cx="2697480" cy="1078992"/>
          </a:xfrm>
          <a:prstGeom prst="rect">
            <a:avLst/>
          </a:prstGeom>
          <a:solidFill>
            <a:srgbClr val="0E2038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33498915" name="Text 21"/>
          <p:cNvSpPr/>
          <p:nvPr/>
        </p:nvSpPr>
        <p:spPr bwMode="auto">
          <a:xfrm>
            <a:off x="384048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FFT Analysis</a:t>
            </a:r>
            <a:endParaRPr lang="en-US" sz="1200"/>
          </a:p>
        </p:txBody>
      </p:sp>
      <p:sp>
        <p:nvSpPr>
          <p:cNvPr id="1697432884" name="Text 22"/>
          <p:cNvSpPr/>
          <p:nvPr/>
        </p:nvSpPr>
        <p:spPr bwMode="auto">
          <a:xfrm>
            <a:off x="384048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Detects grid/checkerboard patterns in the frequency domain — a signature of GAN upsampling operations.</a:t>
            </a:r>
            <a:endParaRPr lang="en-US" sz="1050"/>
          </a:p>
        </p:txBody>
      </p:sp>
      <p:sp>
        <p:nvSpPr>
          <p:cNvPr id="130480368" name="Shape 23"/>
          <p:cNvSpPr/>
          <p:nvPr/>
        </p:nvSpPr>
        <p:spPr bwMode="auto">
          <a:xfrm>
            <a:off x="3172968" y="3749040"/>
            <a:ext cx="2697480" cy="1078992"/>
          </a:xfrm>
          <a:prstGeom prst="rect">
            <a:avLst/>
          </a:prstGeom>
          <a:solidFill>
            <a:srgbClr val="0E2038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6966837" name="Text 24"/>
          <p:cNvSpPr/>
          <p:nvPr/>
        </p:nvSpPr>
        <p:spPr bwMode="auto">
          <a:xfrm>
            <a:off x="3282696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ELA Analysis</a:t>
            </a:r>
            <a:endParaRPr lang="en-US" sz="1200"/>
          </a:p>
        </p:txBody>
      </p:sp>
      <p:sp>
        <p:nvSpPr>
          <p:cNvPr id="15428679" name="Text 25"/>
          <p:cNvSpPr/>
          <p:nvPr/>
        </p:nvSpPr>
        <p:spPr bwMode="auto">
          <a:xfrm>
            <a:off x="3282696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Highlights JPEG compression inconsistencies between original and re-compressed image (amplified ×15).</a:t>
            </a:r>
            <a:endParaRPr lang="en-US" sz="1050"/>
          </a:p>
        </p:txBody>
      </p:sp>
      <p:sp>
        <p:nvSpPr>
          <p:cNvPr id="473539124" name="Shape 26"/>
          <p:cNvSpPr/>
          <p:nvPr/>
        </p:nvSpPr>
        <p:spPr bwMode="auto">
          <a:xfrm>
            <a:off x="6071616" y="3749040"/>
            <a:ext cx="2697480" cy="1078992"/>
          </a:xfrm>
          <a:prstGeom prst="rect">
            <a:avLst/>
          </a:prstGeom>
          <a:solidFill>
            <a:srgbClr val="0E2038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502612222" name="Text 27"/>
          <p:cNvSpPr/>
          <p:nvPr/>
        </p:nvSpPr>
        <p:spPr bwMode="auto">
          <a:xfrm>
            <a:off x="6181344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43A047"/>
                </a:solidFill>
                <a:latin typeface="Calibri"/>
                <a:ea typeface="Calibri"/>
                <a:cs typeface="Calibri"/>
              </a:rPr>
              <a:t>Noise Forensics</a:t>
            </a:r>
            <a:endParaRPr lang="en-US" sz="1200"/>
          </a:p>
        </p:txBody>
      </p:sp>
      <p:sp>
        <p:nvSpPr>
          <p:cNvPr id="163038222" name="Text 28"/>
          <p:cNvSpPr/>
          <p:nvPr/>
        </p:nvSpPr>
        <p:spPr bwMode="auto">
          <a:xfrm>
            <a:off x="6181344" y="41148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Extracts noise residual and measures variance, spatial correlation, channel consistency, and Shannon entropy.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330820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02463484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 &amp; Model Comparison</a:t>
            </a:r>
            <a:endParaRPr lang="en-US" sz="3000"/>
          </a:p>
        </p:txBody>
      </p:sp>
      <p:graphicFrame>
        <p:nvGraphicFramePr>
          <p:cNvPr id="2082543871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274320" y="100584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9505056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760720" y="1005840"/>
          <a:ext cx="3200400" cy="33832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66800"/>
                <a:gridCol w="1066800"/>
                <a:gridCol w="1066800"/>
              </a:tblGrid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 1 – ViT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 2 – Ensemble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  <a:solidFill>
                      <a:srgbClr val="1565C0"/>
                    </a:solidFill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94.2%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99.40%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94.2%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99.40%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Not sep. rep.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100.00%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Inference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~45ms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Higher (TTA ×3)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Explainability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Moderate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High (FFT/ELA)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Deployment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HF Spaces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FastAPI REST + Mobile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DDDDDD"/>
                      </a:solidFill>
                    </a:lnL>
                    <a:lnR w="6350" algn="ctr">
                      <a:solidFill>
                        <a:srgbClr val="DDDDDD"/>
                      </a:solidFill>
                    </a:lnR>
                    <a:lnT w="6350" algn="ctr">
                      <a:solidFill>
                        <a:srgbClr val="DDDDDD"/>
                      </a:solidFill>
                    </a:lnT>
                    <a:lnB w="6350" algn="ctr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42747945" name="Shape 2"/>
          <p:cNvSpPr/>
          <p:nvPr/>
        </p:nvSpPr>
        <p:spPr bwMode="auto">
          <a:xfrm>
            <a:off x="274320" y="4553712"/>
            <a:ext cx="8595360" cy="411480"/>
          </a:xfrm>
          <a:prstGeom prst="rect">
            <a:avLst/>
          </a:prstGeom>
          <a:solidFill>
            <a:srgbClr val="E8F0FB"/>
          </a:solidFill>
          <a:ln w="10160">
            <a:solidFill>
              <a:srgbClr val="2196F3"/>
            </a:solidFill>
            <a:prstDash val="solid"/>
          </a:ln>
        </p:spPr>
      </p:sp>
      <p:sp>
        <p:nvSpPr>
          <p:cNvPr id="619980577" name="Text 3"/>
          <p:cNvSpPr/>
          <p:nvPr/>
        </p:nvSpPr>
        <p:spPr bwMode="auto">
          <a:xfrm>
            <a:off x="411480" y="4572000"/>
            <a:ext cx="8321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Note: Models tested on different datasets (CIFAKE/Dima806 vs Parveshiiii) — direct accuracy comparison is indicative, not absolute.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559526" name="Shape 0"/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5622355" name="Text 1"/>
          <p:cNvSpPr/>
          <p:nvPr/>
        </p:nvSpPr>
        <p:spPr bwMode="auto"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Deployment &amp; Mobile Integration</a:t>
            </a:r>
            <a:endParaRPr lang="en-US" sz="3000"/>
          </a:p>
        </p:txBody>
      </p:sp>
      <p:sp>
        <p:nvSpPr>
          <p:cNvPr id="1450313038" name="Shape 2"/>
          <p:cNvSpPr/>
          <p:nvPr/>
        </p:nvSpPr>
        <p:spPr bwMode="auto">
          <a:xfrm>
            <a:off x="228600" y="1051560"/>
            <a:ext cx="1993392" cy="2377440"/>
          </a:xfrm>
          <a:prstGeom prst="rect">
            <a:avLst/>
          </a:prstGeom>
          <a:solidFill>
            <a:srgbClr val="132238"/>
          </a:solidFill>
          <a:ln w="19050">
            <a:solidFill>
              <a:srgbClr val="78909C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845029981" name="Shape 3"/>
          <p:cNvSpPr/>
          <p:nvPr/>
        </p:nvSpPr>
        <p:spPr bwMode="auto">
          <a:xfrm>
            <a:off x="228600" y="1051560"/>
            <a:ext cx="1993392" cy="365760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622047617" name="Text 4"/>
          <p:cNvSpPr/>
          <p:nvPr/>
        </p:nvSpPr>
        <p:spPr bwMode="auto">
          <a:xfrm>
            <a:off x="228600" y="1069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Repository</a:t>
            </a:r>
            <a:endParaRPr lang="en-US" sz="1100"/>
          </a:p>
        </p:txBody>
      </p:sp>
      <p:sp>
        <p:nvSpPr>
          <p:cNvPr id="1659463018" name="Text 5"/>
          <p:cNvSpPr/>
          <p:nvPr/>
        </p:nvSpPr>
        <p:spPr bwMode="auto">
          <a:xfrm>
            <a:off x="338328" y="1481328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Source code + CI/CD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GitHub Actions auto-sync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Dockerfile + requirements</a:t>
            </a:r>
            <a:endParaRPr lang="en-US" sz="1100"/>
          </a:p>
        </p:txBody>
      </p:sp>
      <p:sp>
        <p:nvSpPr>
          <p:cNvPr id="503979848" name="Shape 6"/>
          <p:cNvSpPr/>
          <p:nvPr/>
        </p:nvSpPr>
        <p:spPr bwMode="auto">
          <a:xfrm>
            <a:off x="2404872" y="1051560"/>
            <a:ext cx="1993392" cy="2377440"/>
          </a:xfrm>
          <a:prstGeom prst="rect">
            <a:avLst/>
          </a:prstGeom>
          <a:solidFill>
            <a:srgbClr val="132238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414603871" name="Shape 7"/>
          <p:cNvSpPr/>
          <p:nvPr/>
        </p:nvSpPr>
        <p:spPr bwMode="auto">
          <a:xfrm>
            <a:off x="2404872" y="1051560"/>
            <a:ext cx="1993392" cy="3657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36373240" name="Text 8"/>
          <p:cNvSpPr/>
          <p:nvPr/>
        </p:nvSpPr>
        <p:spPr bwMode="auto">
          <a:xfrm>
            <a:off x="2404872" y="1069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Hugging Face Spaces</a:t>
            </a:r>
            <a:endParaRPr lang="en-US" sz="1100"/>
          </a:p>
        </p:txBody>
      </p:sp>
      <p:sp>
        <p:nvSpPr>
          <p:cNvPr id="16133646" name="Text 9"/>
          <p:cNvSpPr/>
          <p:nvPr/>
        </p:nvSpPr>
        <p:spPr bwMode="auto">
          <a:xfrm>
            <a:off x="2514600" y="1481328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Docker containerised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Gradio UI (port 7860)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FastAPI /analyze endpoint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Free GPU/CPU runtime</a:t>
            </a:r>
            <a:endParaRPr lang="en-US" sz="1100"/>
          </a:p>
        </p:txBody>
      </p:sp>
      <p:sp>
        <p:nvSpPr>
          <p:cNvPr id="1168699885" name="Shape 10"/>
          <p:cNvSpPr/>
          <p:nvPr/>
        </p:nvSpPr>
        <p:spPr bwMode="auto">
          <a:xfrm>
            <a:off x="4581144" y="1051560"/>
            <a:ext cx="1993392" cy="2377440"/>
          </a:xfrm>
          <a:prstGeom prst="rect">
            <a:avLst/>
          </a:prstGeom>
          <a:solidFill>
            <a:srgbClr val="132238"/>
          </a:solidFill>
          <a:ln w="19050">
            <a:solidFill>
              <a:srgbClr val="AB47BC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9364984" name="Shape 11"/>
          <p:cNvSpPr/>
          <p:nvPr/>
        </p:nvSpPr>
        <p:spPr bwMode="auto">
          <a:xfrm>
            <a:off x="4581144" y="1051560"/>
            <a:ext cx="1993392" cy="36576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008847783" name="Text 12"/>
          <p:cNvSpPr/>
          <p:nvPr/>
        </p:nvSpPr>
        <p:spPr bwMode="auto">
          <a:xfrm>
            <a:off x="4581144" y="1069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HF Model Hub</a:t>
            </a:r>
            <a:endParaRPr lang="en-US" sz="1100"/>
          </a:p>
        </p:txBody>
      </p:sp>
      <p:sp>
        <p:nvSpPr>
          <p:cNvPr id="324601167" name="Text 13"/>
          <p:cNvSpPr/>
          <p:nvPr/>
        </p:nvSpPr>
        <p:spPr bwMode="auto">
          <a:xfrm>
            <a:off x="4690872" y="1481328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Fine-tuned ViT weights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Pre-trained checkpoints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Dataset registry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API token access</a:t>
            </a:r>
            <a:endParaRPr lang="en-US" sz="1100"/>
          </a:p>
        </p:txBody>
      </p:sp>
      <p:sp>
        <p:nvSpPr>
          <p:cNvPr id="942940289" name="Shape 14"/>
          <p:cNvSpPr/>
          <p:nvPr/>
        </p:nvSpPr>
        <p:spPr bwMode="auto">
          <a:xfrm>
            <a:off x="6757416" y="1051560"/>
            <a:ext cx="1993392" cy="2377440"/>
          </a:xfrm>
          <a:prstGeom prst="rect">
            <a:avLst/>
          </a:prstGeom>
          <a:solidFill>
            <a:srgbClr val="132238"/>
          </a:solidFill>
          <a:ln w="19050">
            <a:solidFill>
              <a:srgbClr val="43A047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1119959929" name="Shape 15"/>
          <p:cNvSpPr/>
          <p:nvPr/>
        </p:nvSpPr>
        <p:spPr bwMode="auto">
          <a:xfrm>
            <a:off x="6757416" y="1051560"/>
            <a:ext cx="1993392" cy="3657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82929460" name="Text 16"/>
          <p:cNvSpPr/>
          <p:nvPr/>
        </p:nvSpPr>
        <p:spPr bwMode="auto">
          <a:xfrm>
            <a:off x="6757416" y="106984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Android App (AIBuster)</a:t>
            </a:r>
            <a:endParaRPr lang="en-US" sz="1100"/>
          </a:p>
        </p:txBody>
      </p:sp>
      <p:sp>
        <p:nvSpPr>
          <p:cNvPr id="1703610531" name="Text 17"/>
          <p:cNvSpPr/>
          <p:nvPr/>
        </p:nvSpPr>
        <p:spPr bwMode="auto">
          <a:xfrm>
            <a:off x="6867144" y="1481328"/>
            <a:ext cx="17739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MVVM architecture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Kotlin Coroutines + Ktor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Bearer token auth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Base64 image encoding</a:t>
            </a:r>
            <a:endParaRPr lang="en-US" sz="1100"/>
          </a:p>
        </p:txBody>
      </p:sp>
      <p:sp>
        <p:nvSpPr>
          <p:cNvPr id="1647126527" name="Shape 18"/>
          <p:cNvSpPr/>
          <p:nvPr/>
        </p:nvSpPr>
        <p:spPr bwMode="auto">
          <a:xfrm>
            <a:off x="2221992" y="2240280"/>
            <a:ext cx="18288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26993306" name="Shape 19"/>
          <p:cNvSpPr/>
          <p:nvPr/>
        </p:nvSpPr>
        <p:spPr bwMode="auto">
          <a:xfrm>
            <a:off x="4398264" y="2240280"/>
            <a:ext cx="18288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51188928" name="Shape 20"/>
          <p:cNvSpPr/>
          <p:nvPr/>
        </p:nvSpPr>
        <p:spPr bwMode="auto">
          <a:xfrm>
            <a:off x="6574536" y="2240280"/>
            <a:ext cx="18288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58660599" name="Shape 21"/>
          <p:cNvSpPr/>
          <p:nvPr/>
        </p:nvSpPr>
        <p:spPr bwMode="auto">
          <a:xfrm>
            <a:off x="228600" y="3566160"/>
            <a:ext cx="8686800" cy="1234440"/>
          </a:xfrm>
          <a:prstGeom prst="rect">
            <a:avLst/>
          </a:prstGeom>
          <a:solidFill>
            <a:srgbClr val="091525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010793543" name="Text 22"/>
          <p:cNvSpPr/>
          <p:nvPr/>
        </p:nvSpPr>
        <p:spPr bwMode="auto">
          <a:xfrm>
            <a:off x="411480" y="3621024"/>
            <a:ext cx="83210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CI/CD Flow</a:t>
            </a:r>
            <a:endParaRPr lang="en-US" sz="1200"/>
          </a:p>
        </p:txBody>
      </p:sp>
      <p:sp>
        <p:nvSpPr>
          <p:cNvPr id="1407588691" name="Text 23"/>
          <p:cNvSpPr/>
          <p:nvPr/>
        </p:nvSpPr>
        <p:spPr bwMode="auto">
          <a:xfrm>
            <a:off x="411480" y="3913632"/>
            <a:ext cx="83210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git push main 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GitHub Actions triggers  →  </a:t>
            </a:r>
            <a:r>
              <a:rPr lang="en-US" sz="1100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HF Space auto-rebuilds 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Android app calls  </a:t>
            </a:r>
            <a:r>
              <a:rPr lang="en-US" sz="110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POST /analyze  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receives JSON verdict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15491" name="Shape 0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31388393" name="Shape 1"/>
          <p:cNvSpPr/>
          <p:nvPr/>
        </p:nvSpPr>
        <p:spPr bwMode="auto">
          <a:xfrm>
            <a:off x="0" y="73152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40511564" name="Text 2"/>
          <p:cNvSpPr/>
          <p:nvPr/>
        </p:nvSpPr>
        <p:spPr bwMode="auto"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Work</a:t>
            </a:r>
            <a:endParaRPr lang="en-US" sz="3000"/>
          </a:p>
        </p:txBody>
      </p:sp>
      <p:sp>
        <p:nvSpPr>
          <p:cNvPr id="1844052875" name="Shape 3"/>
          <p:cNvSpPr/>
          <p:nvPr/>
        </p:nvSpPr>
        <p:spPr bwMode="auto">
          <a:xfrm>
            <a:off x="274320" y="1097280"/>
            <a:ext cx="4160519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386579370" name="Text 4"/>
          <p:cNvSpPr/>
          <p:nvPr/>
        </p:nvSpPr>
        <p:spPr bwMode="auto">
          <a:xfrm>
            <a:off x="457200" y="11704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Key Takeaways</a:t>
            </a:r>
            <a:endParaRPr lang="en-US" sz="1400"/>
          </a:p>
        </p:txBody>
      </p:sp>
      <p:sp>
        <p:nvSpPr>
          <p:cNvPr id="1720186657" name="Text 5"/>
          <p:cNvSpPr/>
          <p:nvPr/>
        </p:nvSpPr>
        <p:spPr bwMode="auto">
          <a:xfrm>
            <a:off x="457200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ViT's global self-attention outperforms CNNs by 3–5% on AI detection tasks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Physics-based noise forensics catches artifacts that no neural network can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Ensemble diversity beats any single model on novel generators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Threshold tuning (0.08) is as important as architecture choice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99.4% accuracy + 100% recall achieved by fine-tuned ensemble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Full pipeline from training to mobile deployment in a single system</a:t>
            </a:r>
            <a:endParaRPr lang="en-US" sz="1150"/>
          </a:p>
        </p:txBody>
      </p:sp>
      <p:sp>
        <p:nvSpPr>
          <p:cNvPr id="146199283" name="Shape 6"/>
          <p:cNvSpPr/>
          <p:nvPr/>
        </p:nvSpPr>
        <p:spPr bwMode="auto">
          <a:xfrm>
            <a:off x="4709160" y="1097280"/>
            <a:ext cx="4160519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214673545" name="Text 7"/>
          <p:cNvSpPr/>
          <p:nvPr/>
        </p:nvSpPr>
        <p:spPr bwMode="auto">
          <a:xfrm>
            <a:off x="4892039" y="11704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BCD4"/>
                </a:solidFill>
                <a:latin typeface="Calibri"/>
                <a:ea typeface="Calibri"/>
                <a:cs typeface="Calibri"/>
              </a:rPr>
              <a:t>Future Work</a:t>
            </a:r>
            <a:endParaRPr lang="en-US" sz="1400"/>
          </a:p>
        </p:txBody>
      </p:sp>
      <p:sp>
        <p:nvSpPr>
          <p:cNvPr id="1366687426" name="Text 8"/>
          <p:cNvSpPr/>
          <p:nvPr/>
        </p:nvSpPr>
        <p:spPr bwMode="auto">
          <a:xfrm>
            <a:off x="4892039" y="15544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Expand training data to cover more AI generators (Flux, Sora, Imagen)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Implement periodic retraining pipeline as new models emerge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Add data augmentation: compression, resize, noise injection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Explore ViT-Large / ViT-Huge for higher accuracy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On-device inference (quantized MobileViT) for offline mobile use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Integrate C2PA provenance and SynthID watermark verification</a:t>
            </a:r>
            <a:endParaRPr lang="en-US" sz="1150"/>
          </a:p>
          <a:p>
            <a:pPr marL="342900" indent="-342900">
              <a:buSzPct val="100000"/>
              <a:buChar char="•"/>
              <a:defRPr/>
            </a:pPr>
            <a:r>
              <a:rPr lang="en-US" sz="1150">
                <a:solidFill>
                  <a:srgbClr val="CFD8DC"/>
                </a:solidFill>
                <a:latin typeface="Calibri"/>
                <a:ea typeface="Calibri"/>
                <a:cs typeface="Calibri"/>
              </a:rPr>
              <a:t>Extend to video deepfakes and AI-generated audio detection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569067" name="Shape 0"/>
          <p:cNvSpPr/>
          <p:nvPr/>
        </p:nvSpPr>
        <p:spPr bwMode="auto">
          <a:xfrm>
            <a:off x="0" y="0"/>
            <a:ext cx="914400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74717010" name="Shape 1"/>
          <p:cNvSpPr/>
          <p:nvPr/>
        </p:nvSpPr>
        <p:spPr bwMode="auto">
          <a:xfrm>
            <a:off x="0" y="5052060"/>
            <a:ext cx="9144000" cy="91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16837276" name="Text 2"/>
          <p:cNvSpPr/>
          <p:nvPr/>
        </p:nvSpPr>
        <p:spPr bwMode="auto"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sz="6400"/>
          </a:p>
        </p:txBody>
      </p:sp>
      <p:sp>
        <p:nvSpPr>
          <p:cNvPr id="2145653101" name="Text 3"/>
          <p:cNvSpPr/>
          <p:nvPr/>
        </p:nvSpPr>
        <p:spPr bwMode="auto">
          <a:xfrm>
            <a:off x="137160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BCD4"/>
                </a:solidFill>
                <a:latin typeface="Calibri Light"/>
                <a:ea typeface="Calibri Light"/>
                <a:cs typeface="Calibri Light"/>
              </a:rPr>
              <a:t>Questions &amp; Discussion</a:t>
            </a:r>
            <a:endParaRPr lang="en-US" sz="2200"/>
          </a:p>
        </p:txBody>
      </p:sp>
      <p:sp>
        <p:nvSpPr>
          <p:cNvPr id="634189454" name="Shape 4"/>
          <p:cNvSpPr/>
          <p:nvPr/>
        </p:nvSpPr>
        <p:spPr bwMode="auto">
          <a:xfrm>
            <a:off x="1371600" y="3200400"/>
            <a:ext cx="64008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91220844" name="Text 5"/>
          <p:cNvSpPr/>
          <p:nvPr/>
        </p:nvSpPr>
        <p:spPr bwMode="auto">
          <a:xfrm>
            <a:off x="914400" y="3401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2196F3"/>
                </a:solidFill>
                <a:latin typeface="Calibri"/>
                <a:ea typeface="Calibri"/>
                <a:cs typeface="Calibri"/>
              </a:rPr>
              <a:t>AIBuster  </a:t>
            </a:r>
            <a:r>
              <a:rPr lang="en-US" sz="130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·  Dual-model AI image detection  ·  Gradio + FastAPI + Android  ·  99.4% accuracy</a:t>
            </a:r>
            <a:endParaRPr lang="en-US" sz="1300"/>
          </a:p>
        </p:txBody>
      </p:sp>
      <p:sp>
        <p:nvSpPr>
          <p:cNvPr id="256507422" name="Text 6"/>
          <p:cNvSpPr/>
          <p:nvPr/>
        </p:nvSpPr>
        <p:spPr bwMode="auto"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90A4AE"/>
                </a:solidFill>
                <a:latin typeface="Calibri Light"/>
                <a:ea typeface="Calibri Light"/>
                <a:cs typeface="Calibri Light"/>
              </a:rPr>
              <a:t>Graduation Project — 2026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40342E"/>
      </a:dk1>
      <a:lt1>
        <a:sysClr val="window" lastClr="E9DED8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AIBuster – AI Image Detection</dc:title>
  <dc:subject>PptxGenJS Presentation</dc:subject>
  <dc:creator>PptxGenJS</dc:creator>
  <cp:lastModifiedBy/>
  <cp:revision>2</cp:revision>
  <dcterms:created xsi:type="dcterms:W3CDTF">2026-03-13T18:02:30Z</dcterms:created>
  <dcterms:modified xsi:type="dcterms:W3CDTF">2026-03-14T17:15:38Z</dcterms:modified>
</cp:coreProperties>
</file>